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航天未来科技组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64592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01/16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D2D2D"/>
                </a:solidFill>
              </a:defRPr>
            </a:pPr>
            <a:r>
              <a:t>OM 2026-2027 长期题1《OMER的购物服务》</a:t>
            </a:r>
          </a:p>
          <a:p>
            <a:r>
              <a:t>汇报方案（评审版）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7899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D2D2D"/>
                </a:solidFill>
              </a:defRPr>
            </a:pPr>
            <a:r>
              <a:t>• 7人编制｜电池电机差速驱动｜定向滑道摩擦阻尼回位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82512"/>
            <a:ext cx="12188952" cy="201168"/>
          </a:xfrm>
          <a:prstGeom prst="rect">
            <a:avLst/>
          </a:prstGeom>
          <a:solidFill>
            <a:srgbClr val="F3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任务定义与目标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64592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02/16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789920" cy="52120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D2D2D"/>
                </a:solidFill>
              </a:defRPr>
            </a:pPr>
            <a:r>
              <a:t>• 8分钟完成：采购3件+替代品确认+结账卸货+购物车返场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总分250：技术200 + 风格50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成本上限$165，当前预算$147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82512"/>
            <a:ext cx="12188952" cy="201168"/>
          </a:xfrm>
          <a:prstGeom prst="rect">
            <a:avLst/>
          </a:prstGeom>
          <a:solidFill>
            <a:srgbClr val="F3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规则与约束（必须满足）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64592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03/16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789920" cy="52120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D2D2D"/>
                </a:solidFill>
              </a:defRPr>
            </a:pPr>
            <a:r>
              <a:t>• 车辆原创、可载人、行进时脚不触地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不能外接电源，不能靠斜坡/外部风扇推动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购物车需连接前进，越过起始线垂直平面后方可释放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购物车停止时至少一个接地点在购物车区内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82512"/>
            <a:ext cx="12188952" cy="201168"/>
          </a:xfrm>
          <a:prstGeom prst="rect">
            <a:avLst/>
          </a:prstGeom>
          <a:solidFill>
            <a:srgbClr val="F3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场地与路线几何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64592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04/16</a:t>
            </a:r>
          </a:p>
        </p:txBody>
      </p:sp>
      <p:pic>
        <p:nvPicPr>
          <p:cNvPr id="5" name="Picture 4" descr="OMER_场地路线示意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583680" cy="57915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645920"/>
            <a:ext cx="42062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2D2D"/>
                </a:solidFill>
              </a:defRPr>
            </a:pPr>
            <a:r>
              <a:t>• 核心区域：起始线、购物区、结账区、购物车区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• 关键时机：越线后释放购物车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• 回位目标：稳定停入购物车区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评分结构拆解（200+50）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64592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05/16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789920" cy="52120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D2D2D"/>
                </a:solidFill>
              </a:defRPr>
            </a:pPr>
            <a:r>
              <a:t>• 车辆与推进（50）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完成购物与结账（10）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购物清单与替代品（25）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购物助理（30）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卸货装置（25）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购物车送回（25）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整体创造与质量（35）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风格项（50）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82512"/>
            <a:ext cx="12188952" cy="201168"/>
          </a:xfrm>
          <a:prstGeom prst="rect">
            <a:avLst/>
          </a:prstGeom>
          <a:solidFill>
            <a:srgbClr val="F3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系统架构总览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64592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06/16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789920" cy="52120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D2D2D"/>
                </a:solidFill>
              </a:defRPr>
            </a:pPr>
            <a:r>
              <a:t>• A 载人车底盘系统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B 可拆卸购物车系统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C 卸货执行系统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D 购物助理与订单系统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E 音乐/服装/道具风格系统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82512"/>
            <a:ext cx="12188952" cy="201168"/>
          </a:xfrm>
          <a:prstGeom prst="rect">
            <a:avLst/>
          </a:prstGeom>
          <a:solidFill>
            <a:srgbClr val="F3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车辆推进方案（核心技术）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64592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07/16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789920" cy="52120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D2D2D"/>
                </a:solidFill>
              </a:defRPr>
            </a:pPr>
            <a:r>
              <a:t>• 双电机差速驱动：可控转向、稳定通过20ft场地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电池独立供电：满足“自成一体”规则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车架低重心设计：提升乘员安全与转弯稳定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82512"/>
            <a:ext cx="12188952" cy="201168"/>
          </a:xfrm>
          <a:prstGeom prst="rect">
            <a:avLst/>
          </a:prstGeom>
          <a:solidFill>
            <a:srgbClr val="F3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购物车设计与释放逻辑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64592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08/16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789920" cy="52120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D2D2D"/>
                </a:solidFill>
              </a:defRPr>
            </a:pPr>
            <a:r>
              <a:t>• 连接机构：磁吸+机械卡扣双保险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释放条件：购物车越过起始线垂直平面后触发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回位路径：定向滑道导向+摩擦阻尼控速+缓冲挡停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82512"/>
            <a:ext cx="12188952" cy="201168"/>
          </a:xfrm>
          <a:prstGeom prst="rect">
            <a:avLst/>
          </a:prstGeom>
          <a:solidFill>
            <a:srgbClr val="F3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购物助理流程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64592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09/16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789920" cy="52120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D2D2D"/>
                </a:solidFill>
              </a:defRPr>
            </a:pPr>
            <a:r>
              <a:t>• 开场交付订单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缺货时审批替代品（牛奶→豆奶）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结账前复核订单准确性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口头提示评分点，支持裁判理解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82512"/>
            <a:ext cx="12188952" cy="201168"/>
          </a:xfrm>
          <a:prstGeom prst="rect">
            <a:avLst/>
          </a:prstGeom>
          <a:solidFill>
            <a:srgbClr val="F3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卸货装置方案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64592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10/16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789920" cy="52120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D2D2D"/>
                </a:solidFill>
              </a:defRPr>
            </a:pPr>
            <a:r>
              <a:t>• 机械拨叉将3件物品导入结账区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导槽结构避免掉落与卡滞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可重复调试，便于赛前稳定性验证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82512"/>
            <a:ext cx="12188952" cy="201168"/>
          </a:xfrm>
          <a:prstGeom prst="rect">
            <a:avLst/>
          </a:prstGeom>
          <a:solidFill>
            <a:srgbClr val="F3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材料BOM与成本控制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64592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11/16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789920" cy="52120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D2D2D"/>
                </a:solidFill>
              </a:defRPr>
            </a:pPr>
            <a:r>
              <a:t>• 当前预算：$147 / $165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关键成本：驱动系统$42、结构材料$45、风格道具$28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预留$18用于损耗/备件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82512"/>
            <a:ext cx="12188952" cy="201168"/>
          </a:xfrm>
          <a:prstGeom prst="rect">
            <a:avLst/>
          </a:prstGeom>
          <a:solidFill>
            <a:srgbClr val="F3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8分钟分镜时间轴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64592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12/16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789920" cy="52120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D2D2D"/>
                </a:solidFill>
              </a:defRPr>
            </a:pPr>
            <a:r>
              <a:t>• 0:00 开场接单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0:40-3:30 采购+替代确认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3:30-4:50 结账卸货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4:50-6:20 越线释放购物车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6:20-7:40 购物车回位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7:40-8:00 完成信号定格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82512"/>
            <a:ext cx="12188952" cy="201168"/>
          </a:xfrm>
          <a:prstGeom prst="rect">
            <a:avLst/>
          </a:prstGeom>
          <a:solidFill>
            <a:srgbClr val="F3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风格50分设计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64592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13/16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789920" cy="52120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D2D2D"/>
                </a:solidFill>
              </a:defRPr>
            </a:pPr>
            <a:r>
              <a:t>• 风格项1：购物清单艺术质量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风格项2：音乐创意使用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风格项3：自选-航天物流服装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风格项4：自选-智慧仓背景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风格项5：整体效果统一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82512"/>
            <a:ext cx="12188952" cy="201168"/>
          </a:xfrm>
          <a:prstGeom prst="rect">
            <a:avLst/>
          </a:prstGeom>
          <a:solidFill>
            <a:srgbClr val="F3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风险与应对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64592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14/16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789920" cy="52120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D2D2D"/>
                </a:solidFill>
              </a:defRPr>
            </a:pPr>
            <a:r>
              <a:t>• 跑偏风险：增加地标校准与限速模式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释放失败：双保险卡扣+冗余触发结构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超时风险：阶段节点计时+20秒缓冲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道具失误：岗位互备+流程彩排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82512"/>
            <a:ext cx="12188952" cy="201168"/>
          </a:xfrm>
          <a:prstGeom prst="rect">
            <a:avLst/>
          </a:prstGeom>
          <a:solidFill>
            <a:srgbClr val="F3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排练计划（建议）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64592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15/16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789920" cy="52120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D2D2D"/>
                </a:solidFill>
              </a:defRPr>
            </a:pPr>
            <a:r>
              <a:t>• 第1周：机构调通与单项测试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第2周：全流程串联（不计时）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第3周：计时彩排（8分钟内）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第4周：风格优化与突发预案演练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82512"/>
            <a:ext cx="12188952" cy="201168"/>
          </a:xfrm>
          <a:prstGeom prst="rect">
            <a:avLst/>
          </a:prstGeom>
          <a:solidFill>
            <a:srgbClr val="F3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64592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16/16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D2D2D"/>
                </a:solidFill>
              </a:defRPr>
            </a:pPr>
            <a:r>
              <a:t>航天未来科技组</a:t>
            </a:r>
          </a:p>
          <a:p>
            <a:r>
              <a:t>请老师与评委指导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7899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D2D2D"/>
                </a:solidFill>
              </a:defRPr>
            </a:pPr>
            <a:r>
              <a:t>• 附件：设计说明书、官方提交件模板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82512"/>
            <a:ext cx="12188952" cy="201168"/>
          </a:xfrm>
          <a:prstGeom prst="rect">
            <a:avLst/>
          </a:prstGeom>
          <a:solidFill>
            <a:srgbClr val="F3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